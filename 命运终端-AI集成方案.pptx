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0" b="0">
                <a:solidFill>
                  <a:srgbClr val="1C1F28"/>
                </a:solidFill>
                <a:latin typeface="JetBrains Mono"/>
              </a:defRPr>
            </a:pPr>
            <a:r>
              <a:t>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063240"/>
            <a:ext cx="2286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5600" b="1">
                <a:solidFill>
                  <a:srgbClr val="FFFFFF"/>
                </a:solidFill>
                <a:latin typeface="Noto Serif SC"/>
              </a:defRPr>
            </a:pPr>
            <a:r>
              <a:t>命运终端 ×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0">
                <a:solidFill>
                  <a:srgbClr val="959AA5"/>
                </a:solidFill>
                <a:latin typeface="JetBrains Mono"/>
              </a:defRPr>
            </a:pPr>
            <a:r>
              <a:t>TAROT TERMINAL  ·  当塔罗遇见人工智能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300" b="0">
                <a:solidFill>
                  <a:srgbClr val="5C606A"/>
                </a:solidFill>
                <a:latin typeface="Noto Serif SC"/>
              </a:defRPr>
            </a:pPr>
            <a:r>
              <a:t>从模板化解读到 LLM 驱动的个性化神谕</a:t>
            </a:r>
            <a:br/>
            <a:r>
              <a:t>一个纯前端塔罗应用如何通过 AI 获得灵魂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3716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0" b="0">
                <a:solidFill>
                  <a:srgbClr val="1A1D26"/>
                </a:solidFill>
                <a:latin typeface="JetBrains Mono"/>
              </a:defRPr>
            </a:pPr>
            <a:r>
              <a:t>◆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577840"/>
            <a:ext cx="10728655" cy="12700"/>
          </a:xfrm>
          <a:prstGeom prst="rect">
            <a:avLst/>
          </a:prstGeom>
          <a:solidFill>
            <a:srgbClr val="2A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5C606A"/>
                </a:solidFill>
                <a:latin typeface="JetBrains Mono"/>
              </a:defRPr>
            </a:pPr>
            <a:r>
              <a:t>Demo Day  ·  2026.06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5C606A"/>
                </a:solidFill>
                <a:latin typeface="JetBrains Mono"/>
              </a:defRPr>
            </a:pPr>
            <a:r>
              <a:t>独立作品  ·  纯前端工程  ·  Vanilla 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60"/>
              </a:spcAft>
              <a:defRPr sz="900" b="0">
                <a:solidFill>
                  <a:srgbClr val="5C606A"/>
                </a:solidFill>
                <a:latin typeface="JetBrains Mono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D4A843"/>
                </a:solidFill>
                <a:latin typeface="JetBrains Mono"/>
              </a:defRPr>
            </a:pPr>
            <a:r>
              <a:t>◆  PROJECT OVERVIEW</a:t>
            </a:r>
          </a:p>
          <a:p>
            <a:pPr algn="l">
              <a:spcAft>
                <a:spcPts val="0"/>
              </a:spcAft>
              <a:defRPr sz="800" b="0">
                <a:solidFill>
                  <a:srgbClr val="5C606A"/>
                </a:solidFill>
                <a:latin typeface="JetBrains Mono"/>
              </a:defRPr>
            </a:pPr>
            <a:r>
              <a:t>命运终端 · 项目全貌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60"/>
              </a:spcAft>
              <a:defRPr sz="900" b="0">
                <a:solidFill>
                  <a:srgbClr val="5C606A"/>
                </a:solidFill>
                <a:latin typeface="JetBrains Mono"/>
              </a:defRPr>
            </a:pPr>
            <a:r>
              <a:t>02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2600" b="1">
                <a:solidFill>
                  <a:srgbClr val="FFFFFF"/>
                </a:solidFill>
                <a:latin typeface="Noto Serif SC"/>
              </a:defRPr>
            </a:pPr>
            <a:r>
              <a:t>命运终端 是什么？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959AA5"/>
                </a:solidFill>
                <a:latin typeface="Noto Serif SC"/>
              </a:defRPr>
            </a:pPr>
            <a:r>
              <a:t>一个将"做决定"仪式化的 Web 应用。用户输入困惑，选择生活领域，</a:t>
            </a:r>
            <a:br/>
            <a:r>
              <a:t>系统通过塔罗牌阵给出结构化解读——用代码重新诠释决策仪式。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D0D3DA"/>
                </a:solidFill>
                <a:latin typeface="JetBrains Mono"/>
              </a:defRPr>
            </a:pPr>
            <a:r>
              <a:t>◆  纯前端工程，零框架依赖</a:t>
            </a:r>
            <a:br/>
            <a:r>
              <a:t>◆  78 张塔罗牌 × 6 大生活维度 × 17 种牌阵</a:t>
            </a:r>
            <a:br/>
            <a:r>
              <a:t>◆  程序化白噪音 + 实时天气 + 心情记录</a:t>
            </a:r>
            <a:br/>
            <a:r>
              <a:t>◆  Supabase 用户系统 + 跨设备数据同步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0" y="1371600"/>
            <a:ext cx="2377440" cy="150876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0" y="1371600"/>
            <a:ext cx="237744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1554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" b="1">
                <a:solidFill>
                  <a:srgbClr val="FFFFFF"/>
                </a:solidFill>
                <a:latin typeface="JetBrains Mono"/>
              </a:defRPr>
            </a:pPr>
            <a:r>
              <a:t>9.1K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2148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5C606A"/>
                </a:solidFill>
                <a:latin typeface="JetBrains Mono"/>
              </a:defRPr>
            </a:pPr>
            <a:r>
              <a:t>Total 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377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Noto Serif SC"/>
              </a:defRPr>
            </a:pPr>
            <a:r>
              <a:t>HTML + CSS + JS + JSON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0" y="1371600"/>
            <a:ext cx="2377440" cy="150876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09760" y="1371600"/>
            <a:ext cx="237744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60" y="1554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" b="1">
                <a:solidFill>
                  <a:srgbClr val="FFFFFF"/>
                </a:solidFill>
                <a:latin typeface="JetBrains Mono"/>
              </a:defRPr>
            </a:pPr>
            <a: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21488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5C606A"/>
                </a:solidFill>
                <a:latin typeface="JetBrains Mono"/>
              </a:defRPr>
            </a:pPr>
            <a:r>
              <a:t>JS 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377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Noto Serif SC"/>
              </a:defRPr>
            </a:pPr>
            <a:r>
              <a:t>单一职责模块化架构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063240"/>
            <a:ext cx="2377440" cy="150876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3063240"/>
            <a:ext cx="237744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32461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" b="1">
                <a:solidFill>
                  <a:srgbClr val="FFFFFF"/>
                </a:solidFill>
                <a:latin typeface="JetBrains Mono"/>
              </a:defRPr>
            </a:pPr>
            <a:r>
              <a:t>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840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5C606A"/>
                </a:solidFill>
                <a:latin typeface="JetBrains Mono"/>
              </a:defRPr>
            </a:pPr>
            <a:r>
              <a:t>Tarot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4069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Noto Serif SC"/>
              </a:defRPr>
            </a:pPr>
            <a:r>
              <a:t>22 大阿卡纳 + 56 小阿卡纳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9760" y="3063240"/>
            <a:ext cx="2377440" cy="150876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09760" y="3063240"/>
            <a:ext cx="237744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32461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800" b="1">
                <a:solidFill>
                  <a:srgbClr val="FFFFFF"/>
                </a:solidFill>
                <a:latin typeface="JetBrains Mono"/>
              </a:defRPr>
            </a:pPr>
            <a:r>
              <a:t>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3840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5C606A"/>
                </a:solidFill>
                <a:latin typeface="JetBrains Mono"/>
              </a:defRPr>
            </a:pPr>
            <a:r>
              <a:t>Spread Types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4069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Noto Serif SC"/>
              </a:defRPr>
            </a:pPr>
            <a:r>
              <a:t>6 大主题 × 多牌阵组合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206240"/>
            <a:ext cx="38100" cy="1188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20624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200" b="1">
                <a:solidFill>
                  <a:srgbClr val="D4A843"/>
                </a:solidFill>
                <a:latin typeface="JetBrains Mono"/>
              </a:defRPr>
            </a:pPr>
            <a:r>
              <a:t>当前架构的核心特征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所有卡牌解读均为预写模板文本，通过 generateSummary() 中的</a:t>
            </a:r>
            <a:br/>
            <a:r>
              <a:t>字符串池随机拼接。不依赖任何外部 API，完全离线可用——</a:t>
            </a:r>
            <a:br/>
            <a:r>
              <a:t>但也因此缺乏真正的个性化与上下文理解能力。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2A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700" b="0">
                <a:solidFill>
                  <a:srgbClr val="5C606A"/>
                </a:solidFill>
                <a:latin typeface="JetBrains Mono"/>
              </a:defRPr>
            </a:pPr>
            <a:r>
              <a:t>Project Overview · 命运终端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6655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60"/>
              </a:spcAft>
              <a:defRPr sz="700" b="0">
                <a:solidFill>
                  <a:srgbClr val="5C606A"/>
                </a:solidFill>
                <a:latin typeface="JetBrains Mono"/>
              </a:defRPr>
            </a:pPr>
            <a: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D4A843"/>
                </a:solidFill>
                <a:latin typeface="JetBrains Mono"/>
              </a:defRPr>
            </a:pPr>
            <a:r>
              <a:t>◆  TECHNICAL ARCHITECTURE</a:t>
            </a:r>
          </a:p>
          <a:p>
            <a:pPr algn="l">
              <a:spcAft>
                <a:spcPts val="0"/>
              </a:spcAft>
              <a:defRPr sz="800" b="0">
                <a:solidFill>
                  <a:srgbClr val="5C606A"/>
                </a:solidFill>
                <a:latin typeface="JetBrains Mono"/>
              </a:defRPr>
            </a:pPr>
            <a:r>
              <a:t>当前技术架构 — 纯前端 · JSON 驱动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60"/>
              </a:spcAft>
              <a:defRPr sz="900" b="0">
                <a:solidFill>
                  <a:srgbClr val="5C606A"/>
                </a:solidFill>
                <a:latin typeface="JetBrains Mono"/>
              </a:defRPr>
            </a:pPr>
            <a:r>
              <a:t>03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6858000" cy="82296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38100" cy="8229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70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200" b="1">
                <a:solidFill>
                  <a:srgbClr val="00E5FF"/>
                </a:solidFill>
                <a:latin typeface="JetBrains Mono"/>
              </a:defRPr>
            </a:pPr>
            <a:r>
              <a:t>UI 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D0D3DA"/>
                </a:solidFill>
                <a:latin typeface="JetBrains Mono"/>
              </a:defRPr>
            </a:pPr>
            <a:r>
              <a:t>index.html  ·  encyclopedia.html  ·  history.html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6858000" cy="82296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38100" cy="82296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76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200" b="1">
                <a:solidFill>
                  <a:srgbClr val="00B8D4"/>
                </a:solidFill>
                <a:latin typeface="JetBrains Mono"/>
              </a:defRPr>
            </a:pPr>
            <a:r>
              <a:t>渲染引擎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871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D0D3DA"/>
                </a:solidFill>
                <a:latin typeface="JetBrains Mono"/>
              </a:defRPr>
            </a:pPr>
            <a:r>
              <a:t>CSS Variables  ·  Glass Morphism  ·  Canvas WebGL  ·  Fan Animation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08960"/>
            <a:ext cx="6858000" cy="82296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38100" cy="8229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82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200" b="1">
                <a:solidFill>
                  <a:srgbClr val="D4A843"/>
                </a:solidFill>
                <a:latin typeface="JetBrains Mono"/>
              </a:defRPr>
            </a:pPr>
            <a:r>
              <a:t>业务逻辑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9300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D0D3DA"/>
                </a:solidFill>
                <a:latin typeface="JetBrains Mono"/>
              </a:defRPr>
            </a:pPr>
            <a:r>
              <a:t>main.js  ·  cards.js  ·  encyclopedia.js  ·  history.js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6858000" cy="82296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38100" cy="822960"/>
          </a:xfrm>
          <a:prstGeom prst="rect">
            <a:avLst/>
          </a:prstGeom>
          <a:solidFill>
            <a:srgbClr val="9A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87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200" b="1">
                <a:solidFill>
                  <a:srgbClr val="9A7A2F"/>
                </a:solidFill>
                <a:latin typeface="JetBrains Mono"/>
              </a:defRPr>
            </a:pPr>
            <a:r>
              <a:t>数据层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9884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D0D3DA"/>
                </a:solidFill>
                <a:latin typeface="JetBrains Mono"/>
              </a:defRPr>
            </a:pPr>
            <a:r>
              <a:t>tarot-cards.json (78张)  ·  spreads.json (17牌阵)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20640"/>
            <a:ext cx="6858000" cy="82296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120640"/>
            <a:ext cx="38100" cy="822960"/>
          </a:xfrm>
          <a:prstGeom prst="rect">
            <a:avLst/>
          </a:prstGeom>
          <a:solidFill>
            <a:srgbClr val="959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937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200" b="1">
                <a:solidFill>
                  <a:srgbClr val="959AA5"/>
                </a:solidFill>
                <a:latin typeface="JetBrains Mono"/>
              </a:defRPr>
            </a:pPr>
            <a:r>
              <a:t>基础设施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0468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D0D3DA"/>
                </a:solidFill>
                <a:latin typeface="JetBrains Mono"/>
              </a:defRPr>
            </a:pPr>
            <a:r>
              <a:t>auth.js (Supabase)  ·  weather.js (Open-Meteo)  ·  white-noise.js (Web Audio)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1097280"/>
            <a:ext cx="3840480" cy="50292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1097280"/>
            <a:ext cx="38100" cy="5029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137160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1400" b="1">
                <a:solidFill>
                  <a:srgbClr val="E74C3C"/>
                </a:solidFill>
                <a:latin typeface="JetBrains Mono"/>
              </a:defRPr>
            </a:pPr>
            <a:r>
              <a:t>⚠ 架构痛点</a:t>
            </a:r>
          </a:p>
          <a:p>
            <a:pPr algn="l">
              <a:spcAft>
                <a:spcPts val="1000"/>
              </a:spcAft>
              <a:defRPr sz="1300" b="1">
                <a:solidFill>
                  <a:srgbClr val="FFFFFF"/>
                </a:solidFill>
                <a:latin typeface="Noto Serif SC"/>
              </a:defRPr>
            </a:pPr>
            <a:r>
              <a:t>解读引擎的局限</a:t>
            </a:r>
          </a:p>
          <a:p>
            <a:pPr algn="l">
              <a:spcAft>
                <a:spcPts val="140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generateInterpretation() 从</a:t>
            </a:r>
            <a:br/>
            <a:r>
              <a:t>tarot-cards.json 读取预写文本，</a:t>
            </a:r>
            <a:br/>
            <a:r>
              <a:t>generateSummary() 从硬编码字符串</a:t>
            </a:r>
            <a:br/>
            <a:r>
              <a:t>池中随机拼接。</a:t>
            </a:r>
          </a:p>
          <a:p>
            <a:pPr algn="l">
              <a:spcAft>
                <a:spcPts val="1600"/>
              </a:spcAft>
              <a:defRPr sz="1000" b="0">
                <a:solidFill>
                  <a:srgbClr val="D0D3DA"/>
                </a:solidFill>
                <a:latin typeface="JetBrains Mono"/>
              </a:defRPr>
            </a:pPr>
            <a:r>
              <a:t>结果：</a:t>
            </a:r>
            <a:br/>
            <a:r>
              <a:t>◆  解读模板化，缺乏个性</a:t>
            </a:r>
            <a:br/>
            <a:r>
              <a:t>◆  无法理解用户的具体问题</a:t>
            </a:r>
            <a:br/>
            <a:r>
              <a:t>◆  上下文窗口为零</a:t>
            </a:r>
            <a:br/>
            <a:r>
              <a:t>◆  同牌同解读，体验单一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D4A843"/>
                </a:solidFill>
                <a:latin typeface="Noto Serif SC"/>
              </a:defRPr>
            </a:pPr>
            <a:r>
              <a:t>这正是 AI 的切入点。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2A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700" b="0">
                <a:solidFill>
                  <a:srgbClr val="5C606A"/>
                </a:solidFill>
                <a:latin typeface="JetBrains Mono"/>
              </a:defRPr>
            </a:pPr>
            <a:r>
              <a:t>Technical Architecture · 当前技术栈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6655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60"/>
              </a:spcAft>
              <a:defRPr sz="700" b="0">
                <a:solidFill>
                  <a:srgbClr val="5C606A"/>
                </a:solidFill>
                <a:latin typeface="JetBrains Mono"/>
              </a:defRPr>
            </a:pPr>
            <a: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D4A843"/>
                </a:solidFill>
                <a:latin typeface="JetBrains Mono"/>
              </a:defRPr>
            </a:pPr>
            <a:r>
              <a:t>◆  WHY AI?</a:t>
            </a:r>
          </a:p>
          <a:p>
            <a:pPr algn="l">
              <a:spcAft>
                <a:spcPts val="0"/>
              </a:spcAft>
              <a:defRPr sz="800" b="0">
                <a:solidFill>
                  <a:srgbClr val="5C606A"/>
                </a:solidFill>
                <a:latin typeface="JetBrains Mono"/>
              </a:defRPr>
            </a:pPr>
            <a:r>
              <a:t>从模板到智能 — AI 如何补全塔罗体验的最后一块拼图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60"/>
              </a:spcAft>
              <a:defRPr sz="900" b="0">
                <a:solidFill>
                  <a:srgbClr val="5C606A"/>
                </a:solidFill>
                <a:latin typeface="JetBrains Mono"/>
              </a:defRPr>
            </a:pPr>
            <a:r>
              <a:t>04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303520" cy="228600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8100" cy="2286000"/>
          </a:xfrm>
          <a:prstGeom prst="rect">
            <a:avLst/>
          </a:prstGeom>
          <a:solidFill>
            <a:srgbClr val="5C6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5C606A"/>
                </a:solidFill>
                <a:latin typeface="JetBrains Mono"/>
              </a:defRPr>
            </a:pPr>
            <a:r>
              <a:t>BEFORE  ·  模板引擎</a:t>
            </a:r>
          </a:p>
          <a:p>
            <a:pPr algn="l">
              <a:spcAft>
                <a:spcPts val="1000"/>
              </a:spcAft>
              <a:defRPr sz="1600" b="1">
                <a:solidFill>
                  <a:srgbClr val="959AA5"/>
                </a:solidFill>
                <a:latin typeface="Noto Serif SC"/>
              </a:defRPr>
            </a:pPr>
            <a:r>
              <a:t>当前解读方式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59AA5"/>
                </a:solidFill>
                <a:latin typeface="JetBrains Mono"/>
              </a:defRPr>
            </a:pPr>
            <a:r>
              <a:t>●  预写模板：每张牌 12 条固定解读文本</a:t>
            </a:r>
            <a:br/>
            <a:r>
              <a:t>●  随机拼接：从字符串池中随机选取组合</a:t>
            </a:r>
            <a:br/>
            <a:r>
              <a:t>●  无上下文：不读取用户输入的问题内容</a:t>
            </a:r>
            <a:br/>
            <a:r>
              <a:t>●  无记忆：每次占卜独立，不关联历史</a:t>
            </a:r>
            <a:br/>
            <a:r>
              <a:t>●  同质化：同一张牌永远给出相同解读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60"/>
              </a:spcAft>
              <a:defRPr sz="3200" b="1">
                <a:solidFill>
                  <a:srgbClr val="D4A843"/>
                </a:solidFill>
                <a:latin typeface="JetBrains Mono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303520" cy="228600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38100" cy="2286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3716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100" b="1">
                <a:solidFill>
                  <a:srgbClr val="D4A843"/>
                </a:solidFill>
                <a:latin typeface="JetBrains Mono"/>
              </a:defRPr>
            </a:pPr>
            <a:r>
              <a:t>AFTER  ·  AI 驱动</a:t>
            </a:r>
          </a:p>
          <a:p>
            <a:pPr algn="l">
              <a:spcAft>
                <a:spcPts val="1000"/>
              </a:spcAft>
              <a:defRPr sz="1600" b="1">
                <a:solidFill>
                  <a:srgbClr val="FFFFFF"/>
                </a:solidFill>
                <a:latin typeface="Noto Serif SC"/>
              </a:defRPr>
            </a:pPr>
            <a:r>
              <a:t>LLM 智能解读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D0D3DA"/>
                </a:solidFill>
                <a:latin typeface="JetBrains Mono"/>
              </a:defRPr>
            </a:pPr>
            <a:r>
              <a:t>●  动态生成：每次解读都是全新的</a:t>
            </a:r>
            <a:br/>
            <a:r>
              <a:t>●  上下文感知：读取用户具体问题</a:t>
            </a:r>
            <a:br/>
            <a:r>
              <a:t>●  历史关联：结合过往占卜趋势分析</a:t>
            </a:r>
            <a:br/>
            <a:r>
              <a:t>●  个性化：适配用户心情与生活领域</a:t>
            </a:r>
            <a:br/>
            <a:r>
              <a:t>●  多模态：支持语音输入 + 图片识别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2000" b="1">
                <a:solidFill>
                  <a:srgbClr val="FFFFFF"/>
                </a:solidFill>
                <a:latin typeface="Noto Serif SC"/>
              </a:defRPr>
            </a:pPr>
            <a:r>
              <a:t>AI 赋予塔罗的三个核心能力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3440"/>
            <a:ext cx="3474720" cy="173736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663440"/>
            <a:ext cx="25400" cy="17373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000" b="0">
                <a:solidFill>
                  <a:srgbClr val="D0D3DA"/>
                </a:solidFill>
                <a:latin typeface="JetBrains Mono"/>
              </a:defRPr>
            </a:pPr>
            <a:r>
              <a:t>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74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300" b="1">
                <a:solidFill>
                  <a:srgbClr val="D4A843"/>
                </a:solidFill>
                <a:latin typeface="Noto Serif SC"/>
              </a:defRPr>
            </a:pPr>
            <a:r>
              <a:t>深度理解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Noto Serif SC"/>
              </a:defRPr>
            </a:pPr>
            <a:r>
              <a:t>LLM 真正"读懂"用户的问题，</a:t>
            </a:r>
            <a:br/>
            <a:r>
              <a:t>而非简单匹配关键词。结合</a:t>
            </a:r>
            <a:br/>
            <a:r>
              <a:t>生活领域给出针对性解读。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4663440"/>
            <a:ext cx="3474720" cy="173736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79" y="4663440"/>
            <a:ext cx="25400" cy="17373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4754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000" b="0">
                <a:solidFill>
                  <a:srgbClr val="D0D3DA"/>
                </a:solidFill>
                <a:latin typeface="JetBrains Mono"/>
              </a:defRPr>
            </a:pPr>
            <a: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5074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300" b="1">
                <a:solidFill>
                  <a:srgbClr val="D4A843"/>
                </a:solidFill>
                <a:latin typeface="Noto Serif SC"/>
              </a:defRPr>
            </a:pPr>
            <a:r>
              <a:t>记忆与进化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5440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Noto Serif SC"/>
              </a:defRPr>
            </a:pPr>
            <a:r>
              <a:t>记录用户的占卜历史，分析</a:t>
            </a:r>
            <a:br/>
            <a:r>
              <a:t>决策模式与情绪轨迹，成为</a:t>
            </a:r>
            <a:br/>
            <a:r>
              <a:t>一个会学习的神谕引擎。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18" y="4663440"/>
            <a:ext cx="3474720" cy="173736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18" y="4663440"/>
            <a:ext cx="25400" cy="17373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8" y="4754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000" b="0">
                <a:solidFill>
                  <a:srgbClr val="D0D3DA"/>
                </a:solidFill>
                <a:latin typeface="JetBrains Mono"/>
              </a:defRPr>
            </a:pPr>
            <a:r>
              <a:t>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8" y="5074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300" b="1">
                <a:solidFill>
                  <a:srgbClr val="D4A843"/>
                </a:solidFill>
                <a:latin typeface="Noto Serif SC"/>
              </a:defRPr>
            </a:pPr>
            <a:r>
              <a:t>多模态交互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8" y="5440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Noto Serif SC"/>
              </a:defRPr>
            </a:pPr>
            <a:r>
              <a:t>语音说出你的困惑，AI 转写</a:t>
            </a:r>
            <a:br/>
            <a:r>
              <a:t>并解读。未来可识别手写问题</a:t>
            </a:r>
            <a:br/>
            <a:r>
              <a:t>甚至面部情绪。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2A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700" b="0">
                <a:solidFill>
                  <a:srgbClr val="5C606A"/>
                </a:solidFill>
                <a:latin typeface="JetBrains Mono"/>
              </a:defRPr>
            </a:pPr>
            <a:r>
              <a:t>Why AI? · 模板 vs 智能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6655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60"/>
              </a:spcAft>
              <a:defRPr sz="700" b="0">
                <a:solidFill>
                  <a:srgbClr val="5C606A"/>
                </a:solidFill>
                <a:latin typeface="JetBrains Mono"/>
              </a:defRPr>
            </a:pPr>
            <a: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D4A843"/>
                </a:solidFill>
                <a:latin typeface="JetBrains Mono"/>
              </a:defRPr>
            </a:pPr>
            <a:r>
              <a:t>◆  AI ARCHITECTURE</a:t>
            </a:r>
          </a:p>
          <a:p>
            <a:pPr algn="l">
              <a:spcAft>
                <a:spcPts val="0"/>
              </a:spcAft>
              <a:defRPr sz="800" b="0">
                <a:solidFill>
                  <a:srgbClr val="5C606A"/>
                </a:solidFill>
                <a:latin typeface="JetBrains Mono"/>
              </a:defRPr>
            </a:pPr>
            <a:r>
              <a:t>AI 集成架构 — 在现有系统上叠加智能层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60"/>
              </a:spcAft>
              <a:defRPr sz="900" b="0">
                <a:solidFill>
                  <a:srgbClr val="5C606A"/>
                </a:solidFill>
                <a:latin typeface="JetBrains Mono"/>
              </a:defRPr>
            </a:pPr>
            <a:r>
              <a:t>05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2011680" cy="228600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8100" cy="2286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200" b="1">
                <a:solidFill>
                  <a:srgbClr val="00E5FF"/>
                </a:solidFill>
                <a:latin typeface="Noto Serif SC"/>
              </a:defRPr>
            </a:pPr>
            <a:r>
              <a:t>用户输入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JetBrains Mono"/>
              </a:defRPr>
            </a:pPr>
            <a:r>
              <a:t>问题文本</a:t>
            </a:r>
            <a:br/>
            <a:r>
              <a:t>生活领域</a:t>
            </a:r>
            <a:br/>
            <a:r>
              <a:t>心情状态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8608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600" b="0">
                <a:solidFill>
                  <a:srgbClr val="5C606A"/>
                </a:solidFill>
                <a:latin typeface="JetBrains Mono"/>
              </a:defRPr>
            </a:pPr>
            <a:r>
              <a:t>▸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828800"/>
            <a:ext cx="2011680" cy="228600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1828800"/>
            <a:ext cx="38100" cy="228600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965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200" b="1">
                <a:solidFill>
                  <a:srgbClr val="00B8D4"/>
                </a:solidFill>
                <a:latin typeface="Noto Serif SC"/>
              </a:defRPr>
            </a:pPr>
            <a:r>
              <a:t>牌阵引擎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37744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JetBrains Mono"/>
              </a:defRPr>
            </a:pPr>
            <a:r>
              <a:t>Fisher-Yates</a:t>
            </a:r>
            <a:br/>
            <a:r>
              <a:t>洗牌</a:t>
            </a:r>
            <a:br/>
            <a:r>
              <a:t>抽牌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600" b="0">
                <a:solidFill>
                  <a:srgbClr val="5C606A"/>
                </a:solidFill>
                <a:latin typeface="JetBrains Mono"/>
              </a:defRPr>
            </a:pPr>
            <a:r>
              <a:t>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828800"/>
            <a:ext cx="2011680" cy="228600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1828800"/>
            <a:ext cx="38100" cy="2286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1965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200" b="1">
                <a:solidFill>
                  <a:srgbClr val="D4A843"/>
                </a:solidFill>
                <a:latin typeface="Noto Serif SC"/>
              </a:defRPr>
            </a:pPr>
            <a:r>
              <a:t>上下文组装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37744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JetBrains Mono"/>
              </a:defRPr>
            </a:pPr>
            <a:r>
              <a:t>Prompt 拼接</a:t>
            </a:r>
            <a:br/>
            <a:r>
              <a:t>历史注入</a:t>
            </a:r>
            <a:br/>
            <a:r>
              <a:t>卡片数据注入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600" b="0">
                <a:solidFill>
                  <a:srgbClr val="5C606A"/>
                </a:solidFill>
                <a:latin typeface="JetBrains Mono"/>
              </a:defRPr>
            </a:pPr>
            <a:r>
              <a:t>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1828800"/>
            <a:ext cx="2011680" cy="228600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1828800"/>
            <a:ext cx="38100" cy="22860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1965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200" b="1">
                <a:solidFill>
                  <a:srgbClr val="E8B84B"/>
                </a:solidFill>
                <a:latin typeface="Noto Serif SC"/>
              </a:defRPr>
            </a:pPr>
            <a:r>
              <a:t>AI 解读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37744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JetBrains Mono"/>
              </a:defRPr>
            </a:pPr>
            <a:r>
              <a:t>LLM API</a:t>
            </a:r>
            <a:br/>
            <a:r>
              <a:t>Claude / GPT</a:t>
            </a:r>
            <a:br/>
            <a:r>
              <a:t>流式返回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6608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600" b="0">
                <a:solidFill>
                  <a:srgbClr val="5C606A"/>
                </a:solidFill>
                <a:latin typeface="JetBrains Mono"/>
              </a:defRPr>
            </a:pPr>
            <a:r>
              <a:t>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1828800"/>
            <a:ext cx="2011680" cy="228600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2640" y="1828800"/>
            <a:ext cx="38100" cy="2286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1965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200" b="1">
                <a:solidFill>
                  <a:srgbClr val="2ECC71"/>
                </a:solidFill>
                <a:latin typeface="Noto Serif SC"/>
              </a:defRPr>
            </a:pPr>
            <a:r>
              <a:t>结果渲染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377440"/>
            <a:ext cx="1737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JetBrains Mono"/>
              </a:defRPr>
            </a:pPr>
            <a:r>
              <a:t>帷幕动画</a:t>
            </a:r>
            <a:br/>
            <a:r>
              <a:t>正逆位展示</a:t>
            </a:r>
            <a:br/>
            <a:r>
              <a:t>歌曲推荐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5720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600" b="1">
                <a:solidFill>
                  <a:srgbClr val="FFFFFF"/>
                </a:solidFill>
                <a:latin typeface="Noto Serif SC"/>
              </a:defRPr>
            </a:pPr>
            <a:r>
              <a:t>Prompt 工程 — AI 解读的核心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59AA5"/>
                </a:solidFill>
                <a:latin typeface="JetBrains Mono"/>
              </a:defRPr>
            </a:pPr>
            <a:r>
              <a:t>System Prompt 包含：塔罗师角色设定、78 张牌完整知识库、正逆位含义、</a:t>
            </a:r>
            <a:br/>
            <a:r>
              <a:t>6 大生活领域解读框架。User Prompt 包含：用户原问题、所选牌阵、</a:t>
            </a:r>
            <a:br/>
            <a:r>
              <a:t>每张牌的名称+正逆位、用户历史心情数据、近期占卜趋势。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4572000"/>
            <a:ext cx="3840480" cy="18288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7091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200" b="1">
                <a:solidFill>
                  <a:srgbClr val="D4A843"/>
                </a:solidFill>
                <a:latin typeface="JetBrains Mono"/>
              </a:defRPr>
            </a:pPr>
            <a:r>
              <a:t>API 调用策略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959AA5"/>
                </a:solidFill>
                <a:latin typeface="JetBrains Mono"/>
              </a:defRPr>
            </a:pPr>
            <a:r>
              <a:t>●  流式返回：逐字展示解读过程</a:t>
            </a:r>
            <a:br/>
            <a:r>
              <a:t>●  Prompt Cache：复用卡片知识库</a:t>
            </a:r>
            <a:br/>
            <a:r>
              <a:t>●  降级策略：API 不可用时回退模板</a:t>
            </a:r>
            <a:br/>
            <a:r>
              <a:t>●  速率限制：每小时 N 次免费解读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2A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700" b="0">
                <a:solidFill>
                  <a:srgbClr val="5C606A"/>
                </a:solidFill>
                <a:latin typeface="JetBrains Mono"/>
              </a:defRPr>
            </a:pPr>
            <a:r>
              <a:t>AI Architecture · 集成方案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6655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60"/>
              </a:spcAft>
              <a:defRPr sz="700" b="0">
                <a:solidFill>
                  <a:srgbClr val="5C606A"/>
                </a:solidFill>
                <a:latin typeface="JetBrains Mono"/>
              </a:defRPr>
            </a:pPr>
            <a: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D4A843"/>
                </a:solidFill>
                <a:latin typeface="JetBrains Mono"/>
              </a:defRPr>
            </a:pPr>
            <a:r>
              <a:t>◆  AI FEATURES</a:t>
            </a:r>
          </a:p>
          <a:p>
            <a:pPr algn="l">
              <a:spcAft>
                <a:spcPts val="0"/>
              </a:spcAft>
              <a:defRPr sz="800" b="0">
                <a:solidFill>
                  <a:srgbClr val="5C606A"/>
                </a:solidFill>
                <a:latin typeface="JetBrains Mono"/>
              </a:defRPr>
            </a:pPr>
            <a:r>
              <a:t>AI 功能矩阵 — 四个维度的智能化升级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60"/>
              </a:spcAft>
              <a:defRPr sz="900" b="0">
                <a:solidFill>
                  <a:srgbClr val="5C606A"/>
                </a:solidFill>
                <a:latin typeface="JetBrains Mono"/>
              </a:defRPr>
            </a:pPr>
            <a:r>
              <a:t>06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0" cy="246888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8100" cy="24688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1">
                <a:solidFill>
                  <a:srgbClr val="FFFFFF"/>
                </a:solidFill>
                <a:latin typeface="Noto Serif SC"/>
              </a:defRPr>
            </a:pPr>
            <a:r>
              <a:t>智能解读引擎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D4A843"/>
                </a:solidFill>
                <a:latin typeface="JetBrains Mono"/>
              </a:defRPr>
            </a:pPr>
            <a:r>
              <a:t>LLM-Powered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●  实时生成个性化解读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591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●  理解用户问题上下文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066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●  结合历史占卜趋势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540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●  自适应语言风格与深度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486400" cy="246888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38100" cy="24688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1">
                <a:solidFill>
                  <a:srgbClr val="FFFFFF"/>
                </a:solidFill>
                <a:latin typeface="Noto Serif SC"/>
              </a:defRPr>
            </a:pPr>
            <a:r>
              <a:t>语音交互系统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6002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00E5FF"/>
                </a:solidFill>
                <a:latin typeface="JetBrains Mono"/>
              </a:defRPr>
            </a:pPr>
            <a:r>
              <a:t>Voice Interaction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●  Web Speech API 语音输入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591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●  AI 转写 + 意图理解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066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●  TTS 语音播报解读结果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0540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●  支持中英双语识别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40480"/>
            <a:ext cx="5486400" cy="246888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840480"/>
            <a:ext cx="38100" cy="2468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977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1">
                <a:solidFill>
                  <a:srgbClr val="FFFFFF"/>
                </a:solidFill>
                <a:latin typeface="Noto Serif SC"/>
              </a:defRPr>
            </a:pPr>
            <a:r>
              <a:t>情绪感知与追踪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343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2ECC71"/>
                </a:solidFill>
                <a:latin typeface="JetBrains Mono"/>
              </a:defRPr>
            </a:pPr>
            <a:r>
              <a:t>Emotion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●  心情面板数据训练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1023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●  解读风格匹配用户情绪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4498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●  情绪变化趋势可视化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7972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●  AI 建议对应白噪音场景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840480"/>
            <a:ext cx="5486400" cy="246888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840480"/>
            <a:ext cx="38100" cy="24688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977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1">
                <a:solidFill>
                  <a:srgbClr val="FFFFFF"/>
                </a:solidFill>
                <a:latin typeface="Noto Serif SC"/>
              </a:defRPr>
            </a:pPr>
            <a:r>
              <a:t>知识增强检索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343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E74C3C"/>
                </a:solidFill>
                <a:latin typeface="JetBrains Mono"/>
              </a:defRPr>
            </a:pPr>
            <a:r>
              <a:t>RAG-Enhanced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●  向量数据库存储卡牌知识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1023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●  检索增强生成解读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4498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●  百科页智能问答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7972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●  用户问题相似度匹配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2A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700" b="0">
                <a:solidFill>
                  <a:srgbClr val="5C606A"/>
                </a:solidFill>
                <a:latin typeface="JetBrains Mono"/>
              </a:defRPr>
            </a:pPr>
            <a:r>
              <a:t>AI Features · 功能矩阵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56655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60"/>
              </a:spcAft>
              <a:defRPr sz="700" b="0">
                <a:solidFill>
                  <a:srgbClr val="5C606A"/>
                </a:solidFill>
                <a:latin typeface="JetBrains Mono"/>
              </a:defRPr>
            </a:pPr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D4A843"/>
                </a:solidFill>
                <a:latin typeface="JetBrains Mono"/>
              </a:defRPr>
            </a:pPr>
            <a:r>
              <a:t>◆  DATA PIPELINE</a:t>
            </a:r>
          </a:p>
          <a:p>
            <a:pPr algn="l">
              <a:spcAft>
                <a:spcPts val="0"/>
              </a:spcAft>
              <a:defRPr sz="800" b="0">
                <a:solidFill>
                  <a:srgbClr val="5C606A"/>
                </a:solidFill>
                <a:latin typeface="JetBrains Mono"/>
              </a:defRPr>
            </a:pPr>
            <a:r>
              <a:t>数据流 — 从用户输入到 AI 神谕的完整路径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60"/>
              </a:spcAft>
              <a:defRPr sz="900" b="0">
                <a:solidFill>
                  <a:srgbClr val="5C606A"/>
                </a:solidFill>
                <a:latin typeface="JetBrains Mono"/>
              </a:defRPr>
            </a:pPr>
            <a:r>
              <a:t>07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600" b="1">
                <a:solidFill>
                  <a:srgbClr val="00E5FF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1463040"/>
            <a:ext cx="12700" cy="457200"/>
          </a:xfrm>
          <a:prstGeom prst="rect">
            <a:avLst/>
          </a:prstGeom>
          <a:solidFill>
            <a:srgbClr val="2A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097280"/>
            <a:ext cx="5943600" cy="68580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097280"/>
            <a:ext cx="25400" cy="685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11704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300" b="1">
                <a:solidFill>
                  <a:srgbClr val="FFFFFF"/>
                </a:solidFill>
                <a:latin typeface="Noto Serif SC"/>
              </a:defRPr>
            </a:pPr>
            <a:r>
              <a:t>用户输入问题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4447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JetBrains Mono"/>
              </a:defRPr>
            </a:pPr>
            <a:r>
              <a:t>文本输入 / 语音转写</a:t>
            </a:r>
            <a:br/>
            <a:r>
              <a:t>选择生活领域与牌阵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600" b="1">
                <a:solidFill>
                  <a:srgbClr val="00B8D4"/>
                </a:solidFill>
                <a:latin typeface="JetBrains Mono"/>
              </a:defRPr>
            </a:pPr>
            <a: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331720"/>
            <a:ext cx="12700" cy="457200"/>
          </a:xfrm>
          <a:prstGeom prst="rect">
            <a:avLst/>
          </a:prstGeom>
          <a:solidFill>
            <a:srgbClr val="2A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1965960"/>
            <a:ext cx="5943600" cy="68580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1965960"/>
            <a:ext cx="25400" cy="68580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0391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300" b="1">
                <a:solidFill>
                  <a:srgbClr val="FFFFFF"/>
                </a:solidFill>
                <a:latin typeface="Noto Serif SC"/>
              </a:defRPr>
            </a:pPr>
            <a:r>
              <a:t>洗牌与抽牌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313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JetBrains Mono"/>
              </a:defRPr>
            </a:pPr>
            <a:r>
              <a:t>Fisher-Yates 随机算法</a:t>
            </a:r>
            <a:br/>
            <a:r>
              <a:t>35% 逆位概率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8346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600" b="1">
                <a:solidFill>
                  <a:srgbClr val="D4A843"/>
                </a:solidFill>
                <a:latin typeface="JetBrains Mono"/>
              </a:defRPr>
            </a:pPr>
            <a: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3200400"/>
            <a:ext cx="12700" cy="457200"/>
          </a:xfrm>
          <a:prstGeom prst="rect">
            <a:avLst/>
          </a:prstGeom>
          <a:solidFill>
            <a:srgbClr val="2A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2834640"/>
            <a:ext cx="5943600" cy="68580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0" y="2834640"/>
            <a:ext cx="25400" cy="6858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2907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300" b="1">
                <a:solidFill>
                  <a:srgbClr val="FFFFFF"/>
                </a:solidFill>
                <a:latin typeface="Noto Serif SC"/>
              </a:defRPr>
            </a:pPr>
            <a:r>
              <a:t>上下文构建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1821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JetBrains Mono"/>
              </a:defRPr>
            </a:pPr>
            <a:r>
              <a:t>组装 System Prompt</a:t>
            </a:r>
            <a:br/>
            <a:r>
              <a:t>注入卡片数据 + 用户历史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033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600" b="1">
                <a:solidFill>
                  <a:srgbClr val="E8B84B"/>
                </a:solidFill>
                <a:latin typeface="JetBrains Mono"/>
              </a:defRPr>
            </a:pPr>
            <a: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4069080"/>
            <a:ext cx="12700" cy="457200"/>
          </a:xfrm>
          <a:prstGeom prst="rect">
            <a:avLst/>
          </a:prstGeom>
          <a:solidFill>
            <a:srgbClr val="2A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71600" y="3703320"/>
            <a:ext cx="5943600" cy="68580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71600" y="3703320"/>
            <a:ext cx="25400" cy="6858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0200" y="3776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300" b="1">
                <a:solidFill>
                  <a:srgbClr val="FFFFFF"/>
                </a:solidFill>
                <a:latin typeface="Noto Serif SC"/>
              </a:defRPr>
            </a:pPr>
            <a:r>
              <a:t>LLM 推理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0507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JetBrains Mono"/>
              </a:defRPr>
            </a:pPr>
            <a:r>
              <a:t>流式 API 调用</a:t>
            </a:r>
            <a:br/>
            <a:r>
              <a:t>Temperature=0.8 保持创意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720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600" b="1">
                <a:solidFill>
                  <a:srgbClr val="2ECC71"/>
                </a:solidFill>
                <a:latin typeface="JetBrains Mono"/>
              </a:defRPr>
            </a:pPr>
            <a: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4937760"/>
            <a:ext cx="12700" cy="457200"/>
          </a:xfrm>
          <a:prstGeom prst="rect">
            <a:avLst/>
          </a:prstGeom>
          <a:solidFill>
            <a:srgbClr val="2A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1600" y="4572000"/>
            <a:ext cx="5943600" cy="68580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71600" y="4572000"/>
            <a:ext cx="25400" cy="685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00200" y="4645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300" b="1">
                <a:solidFill>
                  <a:srgbClr val="FFFFFF"/>
                </a:solidFill>
                <a:latin typeface="Noto Serif SC"/>
              </a:defRPr>
            </a:pPr>
            <a:r>
              <a:t>后处理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49194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JetBrains Mono"/>
              </a:defRPr>
            </a:pPr>
            <a:r>
              <a:t>解析结构化 JSON 响应</a:t>
            </a:r>
            <a:br/>
            <a:r>
              <a:t>提取正逆位解读 + 总结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440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600" b="1">
                <a:solidFill>
                  <a:srgbClr val="959AA5"/>
                </a:solidFill>
                <a:latin typeface="JetBrains Mono"/>
              </a:defRPr>
            </a:pPr>
            <a:r>
              <a:t>06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0" y="5440680"/>
            <a:ext cx="5943600" cy="68580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1600" y="5440680"/>
            <a:ext cx="25400" cy="685800"/>
          </a:xfrm>
          <a:prstGeom prst="rect">
            <a:avLst/>
          </a:prstGeom>
          <a:solidFill>
            <a:srgbClr val="959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00200" y="55138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300" b="1">
                <a:solidFill>
                  <a:srgbClr val="FFFFFF"/>
                </a:solidFill>
                <a:latin typeface="Noto Serif SC"/>
              </a:defRPr>
            </a:pPr>
            <a:r>
              <a:t>渲染与存储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5788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JetBrains Mono"/>
              </a:defRPr>
            </a:pPr>
            <a:r>
              <a:t>帷幕动画展示结果</a:t>
            </a:r>
            <a:br/>
            <a:r>
              <a:t>保存到 Supabase 历史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1097280"/>
            <a:ext cx="4023360" cy="493776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128016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200" b="1">
                <a:solidFill>
                  <a:srgbClr val="D4A843"/>
                </a:solidFill>
                <a:latin typeface="JetBrains Mono"/>
              </a:defRPr>
            </a:pPr>
            <a:r>
              <a:t>Prompt 模板预览</a:t>
            </a:r>
          </a:p>
          <a:p>
            <a:pPr algn="l">
              <a:spcAft>
                <a:spcPts val="400"/>
              </a:spcAft>
              <a:defRPr sz="900" b="1">
                <a:solidFill>
                  <a:srgbClr val="00E5FF"/>
                </a:solidFill>
                <a:latin typeface="JetBrains Mono"/>
              </a:defRPr>
            </a:pPr>
            <a:r>
              <a:t>SYSTEM</a:t>
            </a:r>
          </a:p>
          <a:p>
            <a:pPr algn="l">
              <a:spcAft>
                <a:spcPts val="1200"/>
              </a:spcAft>
              <a:defRPr sz="800" b="0">
                <a:solidFill>
                  <a:srgbClr val="959AA5"/>
                </a:solidFill>
                <a:latin typeface="Noto Serif SC"/>
              </a:defRPr>
            </a:pPr>
            <a:r>
              <a:t>你是一位资深的塔罗解读师，</a:t>
            </a:r>
            <a:br/>
            <a:r>
              <a:t>精通韦特塔罗 78 张牌的正逆位</a:t>
            </a:r>
            <a:br/>
            <a:r>
              <a:t>含义。你需要根据用户的具体</a:t>
            </a:r>
            <a:br/>
            <a:r>
              <a:t>问题，结合牌阵位置和卡牌组合，</a:t>
            </a:r>
            <a:br/>
            <a:r>
              <a:t>给出专业、温暖、有洞察力的</a:t>
            </a:r>
            <a:br/>
            <a:r>
              <a:t>个性化解读。</a:t>
            </a:r>
          </a:p>
          <a:p>
            <a:pPr algn="l">
              <a:spcAft>
                <a:spcPts val="400"/>
              </a:spcAft>
              <a:defRPr sz="900" b="1">
                <a:solidFill>
                  <a:srgbClr val="D4A843"/>
                </a:solidFill>
                <a:latin typeface="JetBrains Mono"/>
              </a:defRPr>
            </a:pPr>
            <a:r>
              <a:t>USER</a:t>
            </a:r>
          </a:p>
          <a:p>
            <a:pPr algn="l">
              <a:spcAft>
                <a:spcPts val="1200"/>
              </a:spcAft>
              <a:defRPr sz="800" b="0">
                <a:solidFill>
                  <a:srgbClr val="959AA5"/>
                </a:solidFill>
                <a:latin typeface="JetBrains Mono"/>
              </a:defRPr>
            </a:pPr>
            <a:r>
              <a:t>问题：{user_question}</a:t>
            </a:r>
            <a:br/>
            <a:r>
              <a:t>领域：{theme}</a:t>
            </a:r>
            <a:br/>
            <a:r>
              <a:t>牌阵：{spread_name}</a:t>
            </a:r>
            <a:br/>
            <a:r>
              <a:t>心情：{mood}</a:t>
            </a:r>
            <a:br/>
            <a:br/>
            <a:r>
              <a:t>抽牌结果：</a:t>
            </a:r>
            <a:br/>
            <a:r>
              <a:t>{cards_with_positions}</a:t>
            </a:r>
            <a:br/>
            <a:br/>
            <a:r>
              <a:t>请给出解读...</a:t>
            </a:r>
          </a:p>
          <a:p>
            <a:pPr algn="l">
              <a:spcAft>
                <a:spcPts val="400"/>
              </a:spcAft>
              <a:defRPr sz="900" b="1">
                <a:solidFill>
                  <a:srgbClr val="2ECC71"/>
                </a:solidFill>
                <a:latin typeface="JetBrains Mono"/>
              </a:defRPr>
            </a:pPr>
            <a:r>
              <a:t>RESPONSE (JSON)</a:t>
            </a:r>
          </a:p>
          <a:p>
            <a:pPr algn="l">
              <a:spcAft>
                <a:spcPts val="600"/>
              </a:spcAft>
              <a:defRPr sz="750" b="0">
                <a:solidFill>
                  <a:srgbClr val="5C606A"/>
                </a:solidFill>
                <a:latin typeface="JetBrains Mono"/>
              </a:defRPr>
            </a:pPr>
            <a:r>
              <a:t>{</a:t>
            </a:r>
            <a:br/>
            <a:r>
              <a:t>  "overview": "...",</a:t>
            </a:r>
            <a:br/>
            <a:r>
              <a:t>  "cards": [{</a:t>
            </a:r>
            <a:br/>
            <a:r>
              <a:t>    "name": "愚人",</a:t>
            </a:r>
            <a:br/>
            <a:r>
              <a:t>    "position": "当下状态",</a:t>
            </a:r>
            <a:br/>
            <a:r>
              <a:t>    "reading": "..."</a:t>
            </a:r>
            <a:br/>
            <a:r>
              <a:t>  }],</a:t>
            </a:r>
            <a:br/>
            <a:r>
              <a:t>  "advice": "...",</a:t>
            </a:r>
            <a:br/>
            <a:r>
              <a:t>  "song_suggestion": "..."</a:t>
            </a:r>
            <a:br/>
            <a:r>
              <a:t>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2A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700" b="0">
                <a:solidFill>
                  <a:srgbClr val="5C606A"/>
                </a:solidFill>
                <a:latin typeface="JetBrains Mono"/>
              </a:defRPr>
            </a:pPr>
            <a:r>
              <a:t>Data Pipeline · 从问题到神谕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56655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60"/>
              </a:spcAft>
              <a:defRPr sz="700" b="0">
                <a:solidFill>
                  <a:srgbClr val="5C606A"/>
                </a:solidFill>
                <a:latin typeface="JetBrains Mono"/>
              </a:defRPr>
            </a:pPr>
            <a: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D4A843"/>
                </a:solidFill>
                <a:latin typeface="JetBrains Mono"/>
              </a:defRPr>
            </a:pPr>
            <a:r>
              <a:t>◆  MODEL SELECTION</a:t>
            </a:r>
          </a:p>
          <a:p>
            <a:pPr algn="l">
              <a:spcAft>
                <a:spcPts val="0"/>
              </a:spcAft>
              <a:defRPr sz="800" b="0">
                <a:solidFill>
                  <a:srgbClr val="5C606A"/>
                </a:solidFill>
                <a:latin typeface="JetBrains Mono"/>
              </a:defRPr>
            </a:pPr>
            <a:r>
              <a:t>AI 模型选型 — 对比与分析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60"/>
              </a:spcAft>
              <a:defRPr sz="900" b="0">
                <a:solidFill>
                  <a:srgbClr val="5C606A"/>
                </a:solidFill>
                <a:latin typeface="JetBrains Mono"/>
              </a:defRPr>
            </a:pPr>
            <a:r>
              <a:t>08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solidFill>
            <a:srgbClr val="1C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1">
                <a:solidFill>
                  <a:srgbClr val="D4A843"/>
                </a:solidFill>
                <a:latin typeface="JetBrains Mono"/>
              </a:defRPr>
            </a:pPr>
            <a:r>
              <a:t>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188720"/>
            <a:ext cx="3474720" cy="457200"/>
          </a:xfrm>
          <a:prstGeom prst="rect">
            <a:avLst/>
          </a:prstGeom>
          <a:solidFill>
            <a:srgbClr val="1C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234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1">
                <a:solidFill>
                  <a:srgbClr val="D4A843"/>
                </a:solidFill>
                <a:latin typeface="JetBrains Mono"/>
              </a:defRPr>
            </a:pPr>
            <a:r>
              <a:t>优势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188720"/>
            <a:ext cx="1097280" cy="457200"/>
          </a:xfrm>
          <a:prstGeom prst="rect">
            <a:avLst/>
          </a:prstGeom>
          <a:solidFill>
            <a:srgbClr val="1C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234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1">
                <a:solidFill>
                  <a:srgbClr val="D4A843"/>
                </a:solidFill>
                <a:latin typeface="JetBrains Mono"/>
              </a:defRPr>
            </a:pPr>
            <a:r>
              <a:t>成本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188720"/>
            <a:ext cx="914400" cy="457200"/>
          </a:xfrm>
          <a:prstGeom prst="rect">
            <a:avLst/>
          </a:prstGeom>
          <a:solidFill>
            <a:srgbClr val="1C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2344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1">
                <a:solidFill>
                  <a:srgbClr val="D4A843"/>
                </a:solidFill>
                <a:latin typeface="JetBrains Mono"/>
              </a:defRPr>
            </a:pPr>
            <a:r>
              <a:t>延迟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188720"/>
            <a:ext cx="2560320" cy="457200"/>
          </a:xfrm>
          <a:prstGeom prst="rect">
            <a:avLst/>
          </a:prstGeom>
          <a:solidFill>
            <a:srgbClr val="1C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234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1">
                <a:solidFill>
                  <a:srgbClr val="D4A843"/>
                </a:solidFill>
                <a:latin typeface="JetBrains Mono"/>
              </a:defRPr>
            </a:pPr>
            <a:r>
              <a:t>推荐场景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691640"/>
            <a:ext cx="2560320" cy="86868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76479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1">
                <a:solidFill>
                  <a:srgbClr val="FFFFFF"/>
                </a:solidFill>
                <a:latin typeface="Noto Serif SC"/>
              </a:defRPr>
            </a:pPr>
            <a:r>
              <a:t>Claude 4 (Opus)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1691640"/>
            <a:ext cx="3474720" cy="86868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176479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0">
                <a:solidFill>
                  <a:srgbClr val="959AA5"/>
                </a:solidFill>
                <a:latin typeface="JetBrains Mono"/>
              </a:defRPr>
            </a:pPr>
            <a:r>
              <a:t>中文最优 · 长上下文 200K</a:t>
            </a:r>
            <a:br/>
            <a:r>
              <a:t>深度推理 · 角色扮演强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691640"/>
            <a:ext cx="1097280" cy="86868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764792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0">
                <a:solidFill>
                  <a:srgbClr val="959AA5"/>
                </a:solidFill>
                <a:latin typeface="JetBrains Mono"/>
              </a:defRPr>
            </a:pPr>
            <a:r>
              <a:t>$$$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1691640"/>
            <a:ext cx="914400" cy="86868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176479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0">
                <a:solidFill>
                  <a:srgbClr val="959AA5"/>
                </a:solidFill>
                <a:latin typeface="JetBrains Mono"/>
              </a:defRPr>
            </a:pPr>
            <a:r>
              <a:t>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1691640"/>
            <a:ext cx="2560320" cy="86868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176479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0">
                <a:solidFill>
                  <a:srgbClr val="959AA5"/>
                </a:solidFill>
                <a:latin typeface="JetBrains Mono"/>
              </a:defRPr>
            </a:pPr>
            <a:r>
              <a:t>核心解读引擎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651760"/>
            <a:ext cx="2560320" cy="86868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72491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1">
                <a:solidFill>
                  <a:srgbClr val="FFFFFF"/>
                </a:solidFill>
                <a:latin typeface="Noto Serif SC"/>
              </a:defRPr>
            </a:pPr>
            <a:r>
              <a:t>Claude 4 (Haiku)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2651760"/>
            <a:ext cx="3474720" cy="86868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272491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0">
                <a:solidFill>
                  <a:srgbClr val="959AA5"/>
                </a:solidFill>
                <a:latin typeface="JetBrains Mono"/>
              </a:defRPr>
            </a:pPr>
            <a:r>
              <a:t>速度极快 · 成本极低</a:t>
            </a:r>
            <a:br/>
            <a:r>
              <a:t>适合高并发场景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651760"/>
            <a:ext cx="1097280" cy="86868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724912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0">
                <a:solidFill>
                  <a:srgbClr val="959AA5"/>
                </a:solidFill>
                <a:latin typeface="JetBrains Mono"/>
              </a:defRPr>
            </a:pPr>
            <a:r>
              <a:t>$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2651760"/>
            <a:ext cx="914400" cy="86868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272491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0">
                <a:solidFill>
                  <a:srgbClr val="959AA5"/>
                </a:solidFill>
                <a:latin typeface="JetBrains Mono"/>
              </a:defRPr>
            </a:pPr>
            <a:r>
              <a:t>极低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95360" y="2651760"/>
            <a:ext cx="2560320" cy="86868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0" y="272491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0">
                <a:solidFill>
                  <a:srgbClr val="959AA5"/>
                </a:solidFill>
                <a:latin typeface="JetBrains Mono"/>
              </a:defRPr>
            </a:pPr>
            <a:r>
              <a:t>免费用户层级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611880"/>
            <a:ext cx="2560320" cy="86868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68503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1">
                <a:solidFill>
                  <a:srgbClr val="FFFFFF"/>
                </a:solidFill>
                <a:latin typeface="Noto Serif SC"/>
              </a:defRPr>
            </a:pPr>
            <a:r>
              <a:t>GPT-4o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08960" y="3611880"/>
            <a:ext cx="3474720" cy="86868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0" y="368503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0">
                <a:solidFill>
                  <a:srgbClr val="959AA5"/>
                </a:solidFill>
                <a:latin typeface="JetBrains Mono"/>
              </a:defRPr>
            </a:pPr>
            <a:r>
              <a:t>多模态 · 图片识别</a:t>
            </a:r>
            <a:br/>
            <a:r>
              <a:t>生态丰富 · 插件多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3611880"/>
            <a:ext cx="1097280" cy="86868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3685032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0">
                <a:solidFill>
                  <a:srgbClr val="959AA5"/>
                </a:solidFill>
                <a:latin typeface="JetBrains Mono"/>
              </a:defRPr>
            </a:pPr>
            <a:r>
              <a:t>$$$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3611880"/>
            <a:ext cx="914400" cy="86868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3685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0">
                <a:solidFill>
                  <a:srgbClr val="959AA5"/>
                </a:solidFill>
                <a:latin typeface="JetBrains Mono"/>
              </a:defRPr>
            </a:pPr>
            <a:r>
              <a:t>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3611880"/>
            <a:ext cx="2560320" cy="86868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368503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0">
                <a:solidFill>
                  <a:srgbClr val="959AA5"/>
                </a:solidFill>
                <a:latin typeface="JetBrains Mono"/>
              </a:defRPr>
            </a:pPr>
            <a:r>
              <a:t>图片 + 语音场景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572000"/>
            <a:ext cx="2560320" cy="86868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64515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1">
                <a:solidFill>
                  <a:srgbClr val="FFFFFF"/>
                </a:solidFill>
                <a:latin typeface="Noto Serif SC"/>
              </a:defRPr>
            </a:pPr>
            <a:r>
              <a:t>DeepSeek-V3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08960" y="4572000"/>
            <a:ext cx="3474720" cy="86868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0" y="464515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0">
                <a:solidFill>
                  <a:srgbClr val="959AA5"/>
                </a:solidFill>
                <a:latin typeface="JetBrains Mono"/>
              </a:defRPr>
            </a:pPr>
            <a:r>
              <a:t>中文优秀 · 性价比高</a:t>
            </a:r>
            <a:br/>
            <a:r>
              <a:t>国产部署合规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4572000"/>
            <a:ext cx="1097280" cy="86868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0" y="4645152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0">
                <a:solidFill>
                  <a:srgbClr val="959AA5"/>
                </a:solidFill>
                <a:latin typeface="JetBrains Mono"/>
              </a:defRPr>
            </a:pPr>
            <a:r>
              <a:t>$$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80960" y="4572000"/>
            <a:ext cx="914400" cy="86868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0" y="46451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0">
                <a:solidFill>
                  <a:srgbClr val="959AA5"/>
                </a:solidFill>
                <a:latin typeface="JetBrains Mono"/>
              </a:defRPr>
            </a:pPr>
            <a:r>
              <a:t>低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95360" y="4572000"/>
            <a:ext cx="2560320" cy="86868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0" y="464515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0">
                <a:solidFill>
                  <a:srgbClr val="959AA5"/>
                </a:solidFill>
                <a:latin typeface="JetBrains Mono"/>
              </a:defRPr>
            </a:pPr>
            <a:r>
              <a:t>国内用户首选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532120"/>
            <a:ext cx="2560320" cy="86868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60527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1">
                <a:solidFill>
                  <a:srgbClr val="FFFFFF"/>
                </a:solidFill>
                <a:latin typeface="Noto Serif SC"/>
              </a:defRPr>
            </a:pPr>
            <a:r>
              <a:t>Qwen3 (开源)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08960" y="5532120"/>
            <a:ext cx="3474720" cy="86868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0" y="560527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0">
                <a:solidFill>
                  <a:srgbClr val="959AA5"/>
                </a:solidFill>
                <a:latin typeface="JetBrains Mono"/>
              </a:defRPr>
            </a:pPr>
            <a:r>
              <a:t>本地部署 · 零成本</a:t>
            </a:r>
            <a:br/>
            <a:r>
              <a:t>数据不出服务器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5532120"/>
            <a:ext cx="1097280" cy="86868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0" y="5605272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0">
                <a:solidFill>
                  <a:srgbClr val="959AA5"/>
                </a:solidFill>
                <a:latin typeface="JetBrains Mono"/>
              </a:defRPr>
            </a:pPr>
            <a:r>
              <a:t>免费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80960" y="5532120"/>
            <a:ext cx="914400" cy="86868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0" y="560527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0">
                <a:solidFill>
                  <a:srgbClr val="959AA5"/>
                </a:solidFill>
                <a:latin typeface="JetBrains Mono"/>
              </a:defRPr>
            </a:pPr>
            <a:r>
              <a:t>中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95360" y="5532120"/>
            <a:ext cx="2560320" cy="86868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0" y="560527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850" b="0">
                <a:solidFill>
                  <a:srgbClr val="959AA5"/>
                </a:solidFill>
                <a:latin typeface="JetBrains Mono"/>
              </a:defRPr>
            </a:pPr>
            <a:r>
              <a:t>隐私敏感场景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6172200"/>
            <a:ext cx="10972800" cy="77724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8640" y="6172200"/>
            <a:ext cx="38100" cy="7772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" y="6263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D4A843"/>
                </a:solidFill>
                <a:latin typeface="JetBrains Mono"/>
              </a:defRPr>
            </a:pPr>
            <a:r>
              <a:t>推荐方案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959AA5"/>
                </a:solidFill>
                <a:latin typeface="Noto Serif SC"/>
              </a:defRPr>
            </a:pPr>
            <a:r>
              <a:t>Claude 4 Opus 作为核心解读引擎（中文理解最优） + Haiku 处理免费层级（降本） + 可选本地 Qwen3 作为离线兜底。通过 Prompt Cache 复用 78 张牌知识库，可将每次解读成本控制在 $0.01 以内。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2A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700" b="0">
                <a:solidFill>
                  <a:srgbClr val="5C606A"/>
                </a:solidFill>
                <a:latin typeface="JetBrains Mono"/>
              </a:defRPr>
            </a:pPr>
            <a:r>
              <a:t>Model Selection · AI 模型选型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56655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60"/>
              </a:spcAft>
              <a:defRPr sz="700" b="0">
                <a:solidFill>
                  <a:srgbClr val="5C606A"/>
                </a:solidFill>
                <a:latin typeface="JetBrains Mono"/>
              </a:defRPr>
            </a:pPr>
            <a: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D4A843"/>
                </a:solidFill>
                <a:latin typeface="JetBrains Mono"/>
              </a:defRPr>
            </a:pPr>
            <a:r>
              <a:t>◆  ROADMAP</a:t>
            </a:r>
          </a:p>
          <a:p>
            <a:pPr algn="l">
              <a:spcAft>
                <a:spcPts val="0"/>
              </a:spcAft>
              <a:defRPr sz="800" b="0">
                <a:solidFill>
                  <a:srgbClr val="5C606A"/>
                </a:solidFill>
                <a:latin typeface="JetBrains Mono"/>
              </a:defRPr>
            </a:pPr>
            <a:r>
              <a:t>实施路线图 — 三阶段渐进式 AI 集成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60"/>
              </a:spcAft>
              <a:defRPr sz="900" b="0">
                <a:solidFill>
                  <a:srgbClr val="5C606A"/>
                </a:solidFill>
                <a:latin typeface="JetBrains Mono"/>
              </a:defRPr>
            </a:pPr>
            <a:r>
              <a:t>09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566160" cy="5486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161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A0A0F"/>
                </a:solidFill>
                <a:latin typeface="JetBrains Mono"/>
              </a:defRPr>
            </a:pPr>
            <a:r>
              <a:t>Phase 1  ·  2-3 周</a:t>
            </a:r>
          </a:p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Noto Serif SC"/>
              </a:defRPr>
            </a:pPr>
            <a:r>
              <a:t>AI 解读 MVP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83080"/>
            <a:ext cx="3566160" cy="429768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Noto Serif SC"/>
              </a:defRPr>
            </a:pPr>
            <a:r>
              <a:t>1.  搭建 AI API 代理层（Vercel Edge Function）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Noto Serif SC"/>
              </a:defRPr>
            </a:pPr>
            <a:r>
              <a:t>2.  实现基础 Prompt 模板与 JSON 解析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39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Noto Serif SC"/>
              </a:defRPr>
            </a:pPr>
            <a:r>
              <a:t>3.  前端添加 "AI 深度解读" 按钮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79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Noto Serif SC"/>
              </a:defRPr>
            </a:pPr>
            <a:r>
              <a:t>4.  保留模板引擎作为降级方案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749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Noto Serif SC"/>
              </a:defRPr>
            </a:pPr>
            <a:r>
              <a:t>5.  A/B 测试：模板 vs AI 用户满意度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188720"/>
            <a:ext cx="3566160" cy="5486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2161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A0A0F"/>
                </a:solidFill>
                <a:latin typeface="JetBrains Mono"/>
              </a:defRPr>
            </a:pPr>
            <a:r>
              <a:t>Phase 2  ·  3-4 周</a:t>
            </a:r>
          </a:p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Noto Serif SC"/>
              </a:defRPr>
            </a:pPr>
            <a:r>
              <a:t>个性化 + 语音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783080"/>
            <a:ext cx="3566160" cy="429768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9659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Noto Serif SC"/>
              </a:defRPr>
            </a:pPr>
            <a:r>
              <a:t>1.  注入用户历史数据到 Prompt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74320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Noto Serif SC"/>
              </a:defRPr>
            </a:pPr>
            <a:r>
              <a:t>2.  Web Speech API 语音输入集成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520439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Noto Serif SC"/>
              </a:defRPr>
            </a:pPr>
            <a:r>
              <a:t>3.  情绪分析：心情面板数据可视化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297679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Noto Serif SC"/>
              </a:defRPr>
            </a:pPr>
            <a:r>
              <a:t>4.  流式输出：打字机效果展示解读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0749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Noto Serif SC"/>
              </a:defRPr>
            </a:pPr>
            <a:r>
              <a:t>5.  Prompt Cache 优化：复用降低成本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188720"/>
            <a:ext cx="3566160" cy="548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2161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1">
                <a:solidFill>
                  <a:srgbClr val="0A0A0F"/>
                </a:solidFill>
                <a:latin typeface="JetBrains Mono"/>
              </a:defRPr>
            </a:pPr>
            <a:r>
              <a:t>Phase 3  ·  4-6 周</a:t>
            </a:r>
          </a:p>
          <a:p>
            <a:pPr algn="l">
              <a:spcAft>
                <a:spcPts val="600"/>
              </a:spcAft>
              <a:defRPr sz="1500" b="1">
                <a:solidFill>
                  <a:srgbClr val="0A0A0F"/>
                </a:solidFill>
                <a:latin typeface="Noto Serif SC"/>
              </a:defRPr>
            </a:pPr>
            <a:r>
              <a:t>RAG + 多模态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783080"/>
            <a:ext cx="3566160" cy="429768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9659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Noto Serif SC"/>
              </a:defRPr>
            </a:pPr>
            <a:r>
              <a:t>1.  向量数据库索引 78 张牌知识库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74320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Noto Serif SC"/>
              </a:defRPr>
            </a:pPr>
            <a:r>
              <a:t>2.  百科页 AI 智能问答（RAG 增强）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520439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Noto Serif SC"/>
              </a:defRPr>
            </a:pPr>
            <a:r>
              <a:t>3.  图片识别：拍照上传问题或手写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297679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Noto Serif SC"/>
              </a:defRPr>
            </a:pPr>
            <a:r>
              <a:t>4.  TTS 语音播报解读结果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0749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959AA5"/>
                </a:solidFill>
                <a:latin typeface="Noto Serif SC"/>
              </a:defRPr>
            </a:pPr>
            <a:r>
              <a:t>5.  用户决策趋势分析 + 周报生成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2A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700" b="0">
                <a:solidFill>
                  <a:srgbClr val="5C606A"/>
                </a:solidFill>
                <a:latin typeface="JetBrains Mono"/>
              </a:defRPr>
            </a:pPr>
            <a:r>
              <a:t>Roadmap · 三阶段实施计划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6655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60"/>
              </a:spcAft>
              <a:defRPr sz="700" b="0">
                <a:solidFill>
                  <a:srgbClr val="5C606A"/>
                </a:solidFill>
                <a:latin typeface="JetBrains Mono"/>
              </a:defRPr>
            </a:pPr>
            <a: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D4A843"/>
                </a:solidFill>
                <a:latin typeface="JetBrains Mono"/>
              </a:defRPr>
            </a:pPr>
            <a:r>
              <a:t>◆  UX FLOW</a:t>
            </a:r>
          </a:p>
          <a:p>
            <a:pPr algn="l">
              <a:spcAft>
                <a:spcPts val="0"/>
              </a:spcAft>
              <a:defRPr sz="800" b="0">
                <a:solidFill>
                  <a:srgbClr val="5C606A"/>
                </a:solidFill>
                <a:latin typeface="JetBrains Mono"/>
              </a:defRPr>
            </a:pPr>
            <a:r>
              <a:t>AI 增强后的用户体验流程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60"/>
              </a:spcAft>
              <a:defRPr sz="900" b="0">
                <a:solidFill>
                  <a:srgbClr val="5C606A"/>
                </a:solidFill>
                <a:latin typeface="JetBrains Mono"/>
              </a:defRPr>
            </a:pPr>
            <a:r>
              <a:t>10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011680"/>
            <a:ext cx="2057400" cy="256032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011680"/>
            <a:ext cx="38100" cy="25603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3200" b="0">
                <a:solidFill>
                  <a:srgbClr val="D0D3DA"/>
                </a:solidFill>
                <a:latin typeface="JetBrains Mono"/>
              </a:defRPr>
            </a:pPr>
            <a:r>
              <a:t>🎙️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0604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400" b="1">
                <a:solidFill>
                  <a:srgbClr val="FFFFFF"/>
                </a:solidFill>
                <a:latin typeface="Noto Serif SC"/>
              </a:defRPr>
            </a:pPr>
            <a:r>
              <a:t>语音提问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"我今天该不该</a:t>
            </a:r>
            <a:br/>
            <a:r>
              <a:t>换工作？"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0">
                <a:solidFill>
                  <a:srgbClr val="5C606A"/>
                </a:solidFill>
                <a:latin typeface="JetBrains Mono"/>
              </a:defRPr>
            </a:pPr>
            <a:r>
              <a:t>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2011680"/>
            <a:ext cx="2057400" cy="256032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97480" y="2011680"/>
            <a:ext cx="38100" cy="25603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1488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3200" b="0">
                <a:solidFill>
                  <a:srgbClr val="D0D3DA"/>
                </a:solidFill>
                <a:latin typeface="JetBrains Mono"/>
              </a:defRPr>
            </a:pPr>
            <a:r>
              <a:t>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60604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400" b="1">
                <a:solidFill>
                  <a:srgbClr val="FFFFFF"/>
                </a:solidFill>
                <a:latin typeface="Noto Serif SC"/>
              </a:defRPr>
            </a:pPr>
            <a:r>
              <a:t>AI 选牌阵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01752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根据问题自动</a:t>
            </a:r>
            <a:br/>
            <a:r>
              <a:t>推荐最佳牌阵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0">
                <a:solidFill>
                  <a:srgbClr val="5C606A"/>
                </a:solidFill>
                <a:latin typeface="JetBrains Mono"/>
              </a:defRPr>
            </a:pPr>
            <a:r>
              <a:t>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011680"/>
            <a:ext cx="2057400" cy="256032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2011680"/>
            <a:ext cx="38100" cy="256032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21488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3200" b="0">
                <a:solidFill>
                  <a:srgbClr val="D0D3DA"/>
                </a:solidFill>
                <a:latin typeface="JetBrains Mono"/>
              </a:defRPr>
            </a:pPr>
            <a:r>
              <a:t>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60604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400" b="1">
                <a:solidFill>
                  <a:srgbClr val="FFFFFF"/>
                </a:solidFill>
                <a:latin typeface="Noto Serif SC"/>
              </a:defRPr>
            </a:pPr>
            <a:r>
              <a:t>抽牌仪式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301752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保留手动洗牌</a:t>
            </a:r>
            <a:br/>
            <a:r>
              <a:t>的仪式感体验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0">
                <a:solidFill>
                  <a:srgbClr val="5C606A"/>
                </a:solidFill>
                <a:latin typeface="JetBrains Mono"/>
              </a:defRPr>
            </a:pPr>
            <a:r>
              <a:t>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2011680"/>
            <a:ext cx="2057400" cy="256032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0920" y="2011680"/>
            <a:ext cx="38100" cy="25603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21488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3200" b="0">
                <a:solidFill>
                  <a:srgbClr val="D0D3DA"/>
                </a:solidFill>
                <a:latin typeface="JetBrains Mono"/>
              </a:defRPr>
            </a:pPr>
            <a: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260604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400" b="1">
                <a:solidFill>
                  <a:srgbClr val="FFFFFF"/>
                </a:solidFill>
                <a:latin typeface="Noto Serif SC"/>
              </a:defRPr>
            </a:pPr>
            <a:r>
              <a:t>AI 实时解读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301752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逐字流式展示</a:t>
            </a:r>
            <a:br/>
            <a:r>
              <a:t>个性化神谕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0">
                <a:solidFill>
                  <a:srgbClr val="5C606A"/>
                </a:solidFill>
                <a:latin typeface="JetBrains Mono"/>
              </a:defRPr>
            </a:pPr>
            <a:r>
              <a:t>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2011680"/>
            <a:ext cx="2057400" cy="256032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92640" y="2011680"/>
            <a:ext cx="38100" cy="25603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800" y="21488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3200" b="0">
                <a:solidFill>
                  <a:srgbClr val="D0D3DA"/>
                </a:solidFill>
                <a:latin typeface="JetBrains Mono"/>
              </a:defRPr>
            </a:pPr>
            <a: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60604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400" b="1">
                <a:solidFill>
                  <a:srgbClr val="FFFFFF"/>
                </a:solidFill>
                <a:latin typeface="Noto Serif SC"/>
              </a:defRPr>
            </a:pPr>
            <a:r>
              <a:t>趋势洞察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301752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关联历史数据</a:t>
            </a:r>
            <a:br/>
            <a:r>
              <a:t>生成决策建议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2920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600" b="1">
                <a:solidFill>
                  <a:srgbClr val="FFFFFF"/>
                </a:solidFill>
                <a:latin typeface="Noto Serif SC"/>
              </a:defRPr>
            </a:pPr>
            <a:r>
              <a:t>关键体验升级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D0D3DA"/>
                </a:solidFill>
                <a:latin typeface="JetBrains Mono"/>
              </a:defRPr>
            </a:pPr>
            <a:r>
              <a:t>◆  从"选择牌阵"到"AI 自动推荐牌阵"</a:t>
            </a:r>
            <a:br/>
            <a:r>
              <a:t>◆  从"模板文本"到"流式逐字生成解读"</a:t>
            </a:r>
            <a:br/>
            <a:r>
              <a:t>◆  从"单次占卜"到"长期决策趋势追踪"</a:t>
            </a:r>
            <a:br/>
            <a:r>
              <a:t>◆  从"手动打字"到"语音说出你的困惑"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5029200"/>
            <a:ext cx="4023360" cy="146304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512064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200" b="1">
                <a:solidFill>
                  <a:srgbClr val="D4A843"/>
                </a:solidFill>
                <a:latin typeface="JetBrains Mono"/>
              </a:defRPr>
            </a:pPr>
            <a:r>
              <a:t>预期指标提升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959AA5"/>
                </a:solidFill>
                <a:latin typeface="JetBrains Mono"/>
              </a:defRPr>
            </a:pPr>
            <a:r>
              <a:t>用户留存  +40%</a:t>
            </a:r>
            <a:br/>
            <a:r>
              <a:t>解读满意度 +65%</a:t>
            </a:r>
            <a:br/>
            <a:r>
              <a:t>平均会话时长 +120%</a:t>
            </a:r>
            <a:br/>
            <a:r>
              <a:t>重复使用率 +55%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2A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700" b="0">
                <a:solidFill>
                  <a:srgbClr val="5C606A"/>
                </a:solidFill>
                <a:latin typeface="JetBrains Mono"/>
              </a:defRPr>
            </a:pPr>
            <a:r>
              <a:t>UX Flow · AI 增强体验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56655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60"/>
              </a:spcAft>
              <a:defRPr sz="700" b="0">
                <a:solidFill>
                  <a:srgbClr val="5C606A"/>
                </a:solidFill>
                <a:latin typeface="JetBrains Mono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D4A843"/>
                </a:solidFill>
                <a:latin typeface="JetBrains Mono"/>
              </a:defRPr>
            </a:pPr>
            <a:r>
              <a:t>◆  CHALLENGES</a:t>
            </a:r>
          </a:p>
          <a:p>
            <a:pPr algn="l">
              <a:spcAft>
                <a:spcPts val="0"/>
              </a:spcAft>
              <a:defRPr sz="800" b="0">
                <a:solidFill>
                  <a:srgbClr val="5C606A"/>
                </a:solidFill>
                <a:latin typeface="JetBrains Mono"/>
              </a:defRPr>
            </a:pPr>
            <a:r>
              <a:t>技术挑战与解决方案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60"/>
              </a:spcAft>
              <a:defRPr sz="900" b="0">
                <a:solidFill>
                  <a:srgbClr val="5C606A"/>
                </a:solidFill>
                <a:latin typeface="JetBrains Mono"/>
              </a:defRPr>
            </a:pPr>
            <a:r>
              <a:t>11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669280" cy="237744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8100" cy="2377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600" b="1">
                <a:solidFill>
                  <a:srgbClr val="FFFFFF"/>
                </a:solidFill>
                <a:latin typeface="Noto Serif SC"/>
              </a:defRPr>
            </a:pPr>
            <a:r>
              <a:t>API 成本控制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5C606A"/>
                </a:solidFill>
                <a:latin typeface="JetBrains Mono"/>
              </a:defRPr>
            </a:pPr>
            <a:r>
              <a:t>每次 LLM 调用的费用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✓  Prompt Cache 复用牌库知识 (命中率&gt;90%)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048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✓  分层模型策略：付费用户 Opus / 免费 Haiku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5234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✓  本地 Qwen3 作为离线兜底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99815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✓  每日免费额度 + 订阅制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669280" cy="237744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38100" cy="2377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325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600" b="1">
                <a:solidFill>
                  <a:srgbClr val="FFFFFF"/>
                </a:solidFill>
                <a:latin typeface="Noto Serif SC"/>
              </a:defRPr>
            </a:pPr>
            <a:r>
              <a:t>响应延迟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69164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5C606A"/>
                </a:solidFill>
                <a:latin typeface="JetBrains Mono"/>
              </a:defRPr>
            </a:pPr>
            <a:r>
              <a:t>LLM 推理需要 2-8 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57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✓  流式输出 (Streaming) 逐字展示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048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✓  预加载：用户选牌时预热 API 连接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5234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✓  预生成通用部分 (开场白/结尾)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099815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✓  客户端乐观更新 UI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840480"/>
            <a:ext cx="5669280" cy="237744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840480"/>
            <a:ext cx="38100" cy="2377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977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600" b="1">
                <a:solidFill>
                  <a:srgbClr val="FFFFFF"/>
                </a:solidFill>
                <a:latin typeface="Noto Serif SC"/>
              </a:defRPr>
            </a:pPr>
            <a:r>
              <a:t>数据隐私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34340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5C606A"/>
                </a:solidFill>
                <a:latin typeface="JetBrains Mono"/>
              </a:defRPr>
            </a:pPr>
            <a:r>
              <a:t>用户问题涉及个人隐私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709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✓  API 代理层脱敏处理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0566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✓  可选本地模型 (数据不出设备)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40410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✓  用户数据加密存储 (Supabase RLS)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751575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✓  明确的隐私政策与数据控制权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840480"/>
            <a:ext cx="5669280" cy="2377440"/>
          </a:xfrm>
          <a:prstGeom prst="rect">
            <a:avLst/>
          </a:prstGeom>
          <a:solidFill>
            <a:srgbClr val="16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840480"/>
            <a:ext cx="38100" cy="2377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977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600" b="1">
                <a:solidFill>
                  <a:srgbClr val="FFFFFF"/>
                </a:solidFill>
                <a:latin typeface="Noto Serif SC"/>
              </a:defRPr>
            </a:pPr>
            <a:r>
              <a:t>解读质量控制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34340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5C606A"/>
                </a:solidFill>
                <a:latin typeface="JetBrains Mono"/>
              </a:defRPr>
            </a:pPr>
            <a:r>
              <a:t>AI 可能产生不恰当内容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709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✓  结构化 JSON Schema 约束输出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0566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✓  内容安全过滤层 (关键词 + 分类器)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40410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✓  用户反馈机制 (👍👎) 持续优化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751575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000" b="0">
                <a:solidFill>
                  <a:srgbClr val="959AA5"/>
                </a:solidFill>
                <a:latin typeface="Noto Serif SC"/>
              </a:defRPr>
            </a:pPr>
            <a:r>
              <a:t>✓  定期 Prompt 迭代与 A/B 测试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2A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700" b="0">
                <a:solidFill>
                  <a:srgbClr val="5C606A"/>
                </a:solidFill>
                <a:latin typeface="JetBrains Mono"/>
              </a:defRPr>
            </a:pPr>
            <a:r>
              <a:t>Challenges · 挑战与对策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56655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60"/>
              </a:spcAft>
              <a:defRPr sz="700" b="0">
                <a:solidFill>
                  <a:srgbClr val="5C606A"/>
                </a:solidFill>
                <a:latin typeface="JetBrains Mono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6000" b="0">
                <a:solidFill>
                  <a:srgbClr val="1C1F28"/>
                </a:solidFill>
                <a:latin typeface="JetBrains Mono"/>
              </a:defRPr>
            </a:pPr>
            <a:r>
              <a:t>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468880"/>
            <a:ext cx="2286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5200" b="1">
                <a:solidFill>
                  <a:srgbClr val="FFFFFF"/>
                </a:solidFill>
                <a:latin typeface="Noto Serif SC"/>
              </a:defRPr>
            </a:pPr>
            <a:r>
              <a:t>从模板到智能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1800" b="0">
                <a:solidFill>
                  <a:srgbClr val="959AA5"/>
                </a:solidFill>
                <a:latin typeface="Noto Serif SC"/>
              </a:defRPr>
            </a:pPr>
            <a:r>
              <a:t>让每一次犹豫，都得到真正被理解的回应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572000"/>
            <a:ext cx="10728655" cy="12700"/>
          </a:xfrm>
          <a:prstGeom prst="rect">
            <a:avLst/>
          </a:prstGeom>
          <a:solidFill>
            <a:srgbClr val="2A2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000" b="1">
                <a:solidFill>
                  <a:srgbClr val="D4A843"/>
                </a:solidFill>
                <a:latin typeface="JetBrains Mono"/>
              </a:defRPr>
            </a:pPr>
            <a:r>
              <a:t>谢谢  ·  THANK YOU</a:t>
            </a:r>
          </a:p>
          <a:p>
            <a:pPr algn="l">
              <a:spcAft>
                <a:spcPts val="800"/>
              </a:spcAft>
              <a:defRPr sz="1200" b="0">
                <a:solidFill>
                  <a:srgbClr val="959AA5"/>
                </a:solidFill>
                <a:latin typeface="Noto Serif SC"/>
              </a:defRPr>
            </a:pPr>
            <a:r>
              <a:t>命运终端 · TAROT TERMINAL × AI</a:t>
            </a:r>
          </a:p>
          <a:p>
            <a:pPr algn="l">
              <a:spcAft>
                <a:spcPts val="600"/>
              </a:spcAft>
              <a:defRPr sz="900" b="0">
                <a:solidFill>
                  <a:srgbClr val="5C606A"/>
                </a:solidFill>
                <a:latin typeface="JetBrains Mono"/>
              </a:defRPr>
            </a:pPr>
            <a:r>
              <a:t>纯前端工程  ·  Vanilla JS  ·  CSS 变量驱动  ·  零框架</a:t>
            </a:r>
            <a:br/>
            <a:r>
              <a:t>AI 就绪架构  ·  API 代理层  ·  LLM 集成方案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900" b="0">
                <a:solidFill>
                  <a:srgbClr val="5C606A"/>
                </a:solidFill>
                <a:latin typeface="JetBrains Mono"/>
              </a:defRPr>
            </a:pPr>
            <a:r>
              <a:t>2026 Demo Day  ·  欢迎体验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355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60"/>
              </a:spcAft>
              <a:defRPr sz="900" b="0">
                <a:solidFill>
                  <a:srgbClr val="5C606A"/>
                </a:solidFill>
                <a:latin typeface="JetBrains Mono"/>
              </a:defRPr>
            </a:pPr>
            <a:r>
              <a:t>12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4572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"/>
              </a:spcAft>
              <a:defRPr sz="22000" b="0">
                <a:solidFill>
                  <a:srgbClr val="181B24"/>
                </a:solidFill>
                <a:latin typeface="JetBrains Mono"/>
              </a:defRPr>
            </a:pPr>
            <a:r>
              <a:t>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